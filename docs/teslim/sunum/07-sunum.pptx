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iriş" id="{48ce24e7-75df-af91-30de-c283500d0f37}">
          <p14:sldIdLst>
            <p14:sldId id="256"/>
            <p14:sldId id="257"/>
          </p14:sldIdLst>
        </p14:section>
        <p14:section name="Çözüm" id="{cb56a796-ce57-e453-23f0-7a1515d8b115}">
          <p14:sldIdLst>
            <p14:sldId id="258"/>
            <p14:sldId id="259"/>
            <p14:sldId id="260"/>
            <p14:sldId id="261"/>
          </p14:sldIdLst>
        </p14:section>
        <p14:section name="Demo" id="{ac564bb8-6ea8-8050-30ef-22b1ef7f260c}">
          <p14:sldIdLst>
            <p14:sldId id="262"/>
          </p14:sldIdLst>
        </p14:section>
        <p14:section name="Sonuçlar" id="{32d0d508-aa44-730f-2b88-21ff65c17fc4}">
          <p14:sldIdLst>
            <p14:sldId id="263"/>
            <p14:sldId id="264"/>
            <p14:sldId id="265"/>
            <p14:sldId id="266"/>
          </p14:sldIdLst>
        </p14:section>
        <p14:section name="Ek" id="{27cc7c1b-9241-4c00-4155-7a4436e6851b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A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5852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ERI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ING Agentic AI Hackathon · RM görüşme hazırlığı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YU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Görüşme hazırlığı: kanıta dayalı karar desteği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Private Banking RM'leri için yatırım karar destek prototipi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394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ING Agentic AI Hackathon · Ekim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30568" y="1389888"/>
            <a:ext cx="4855464" cy="2588514"/>
          </a:xfrm>
          <a:prstGeom prst="rect">
            <a:avLst/>
          </a:prstGeom>
          <a:solidFill>
            <a:schemeClr val="accent6"/>
          </a:solidFill>
          <a:ln/>
        </p:spPr>
      </p:sp>
      <p:pic>
        <p:nvPicPr>
          <p:cNvPr id="6" name="Image 0" descr="C:\Users\yardang\dev\ing-hackathon\prototype\docs\teslim\sunum\img\dashboard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417320"/>
            <a:ext cx="4800600" cy="25336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406908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Gerçek uygulama, P02 panosu (veri: 10.10.2026)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RM'in hazırlığı yavaş, dağınık ve kayıtsız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RM her görüşmeden önce yüzlerce ürünü dağınık kaynaklardan elle karşılaştırıyor. İş yavaş, müşteriye uyarlanmıyor, kısıt kaçabiliyor ve önerinin hangi veriye dayandığı sonradan gösterilemiyor.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816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P01 için seçenek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Kurallar 675'ini eler: risk tavanı, alıma kapalı, kısa geçmiş. Kalan 141 seçeneği elle sıralamak bir hazırlığa sığmaz.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23774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−%8,3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ING Turuncu Hesap, reel getiri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9319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%23 faiz, stopaj ve yıllık TÜFE (%29,73) sonrası. Aynı gün para piyasası fonları reel +%7,4.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23774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58200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≈ 30 sn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analiz ve görüşme metni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39319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Karar ≈ 1 sn, metin ortalama 27 sn. Bugünkü hazırlık görüşme başına ~60 dk [VARSAYIM].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486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5629046"/>
            <a:ext cx="309067" cy="309067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54406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Kapsam: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görüşme öncesi hazırlık. Çözüm önerir, gerekçelendirir, belirsizliği gösterir ve teyit sorularını üretir. Kararı ve müşteri iletişimini RM yapar.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Kararı kod verir, son sözü RM söyler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920240" cy="28803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Veri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TEFAS, TCMB EVDS, ING oranları, stopaj, TÜFE. Anlık görüntü ve kalite bayrakları.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14600" y="2697480"/>
            <a:ext cx="274320" cy="32004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9" name="Shape 6"/>
          <p:cNvSpPr/>
          <p:nvPr/>
        </p:nvSpPr>
        <p:spPr>
          <a:xfrm>
            <a:off x="2834640" y="1417320"/>
            <a:ext cx="1920240" cy="28803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063240" y="16459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859" y="17995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Karar motoru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Katı kurallar, şeffaf puan, önerilen ilk 3, dağılım bantları. Deterministik.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800600" y="2697480"/>
            <a:ext cx="274320" cy="32004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5" name="Shape 11"/>
          <p:cNvSpPr/>
          <p:nvPr/>
        </p:nvSpPr>
        <p:spPr>
          <a:xfrm>
            <a:off x="5120640" y="1417320"/>
            <a:ext cx="1920240" cy="288036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sp>
        <p:nvSpPr>
          <p:cNvPr id="16" name="Shape 12"/>
          <p:cNvSpPr/>
          <p:nvPr/>
        </p:nvSpPr>
        <p:spPr>
          <a:xfrm>
            <a:off x="534924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859" y="1799539"/>
            <a:ext cx="332842" cy="33284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4924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RM onayı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34924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Soruları yanıtlar, "Teyit edin" maddelerini kontrol eder, seçimi onaylar.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086600" y="2697480"/>
            <a:ext cx="274320" cy="32004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21" name="Shape 16"/>
          <p:cNvSpPr/>
          <p:nvPr/>
        </p:nvSpPr>
        <p:spPr>
          <a:xfrm>
            <a:off x="7406640" y="1417320"/>
            <a:ext cx="1920240" cy="28803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2" name="Shape 17"/>
          <p:cNvSpPr/>
          <p:nvPr/>
        </p:nvSpPr>
        <p:spPr>
          <a:xfrm>
            <a:off x="7635240" y="16459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8859" y="179953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3524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Görüşme metni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Claude Sonnet 5.5 yazar. Kod her sayıyı ve ürün adını doğrular.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9372600" y="2697480"/>
            <a:ext cx="274320" cy="32004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27" name="Shape 21"/>
          <p:cNvSpPr/>
          <p:nvPr/>
        </p:nvSpPr>
        <p:spPr>
          <a:xfrm>
            <a:off x="9692640" y="1417320"/>
            <a:ext cx="1920240" cy="288036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sp>
        <p:nvSpPr>
          <p:cNvPr id="28" name="Shape 22"/>
          <p:cNvSpPr/>
          <p:nvPr/>
        </p:nvSpPr>
        <p:spPr>
          <a:xfrm>
            <a:off x="992124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859" y="1799539"/>
            <a:ext cx="332842" cy="33284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92124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RM metin onayı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92124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Blokları düzenler ve onaylar. Müşteriye otomatik iletim yok.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548640" y="452628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777240" y="47548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859" y="4908499"/>
            <a:ext cx="332842" cy="33284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645920" y="461772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Kanıt kaydı.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Her sayı kaynak, tarih ve kanıt kimliğiyle görünür. Kayıt; çalıştırma kimliği, yapılandırma özeti, RM kararı ve iki onay zamanını (Türkiye saati) tutar.</a:t>
            </a:r>
            <a:endParaRPr lang="en-US" sz="1500" dirty="0"/>
          </a:p>
        </p:txBody>
      </p:sp>
      <p:sp>
        <p:nvSpPr>
          <p:cNvPr id="36" name="Shape 28"/>
          <p:cNvSpPr/>
          <p:nvPr/>
        </p:nvSpPr>
        <p:spPr>
          <a:xfrm>
            <a:off x="548640" y="5897880"/>
            <a:ext cx="201168" cy="2011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41248" y="5852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Deterministik kod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2926080" y="5897880"/>
            <a:ext cx="201168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3218688" y="5852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LLM (yalnızca dil)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5303520" y="589788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5596128" y="5852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İnsan onayı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Önce katı kurallar, sonra şeffaf puan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816 seçenekten kaç tanesi kalıyor?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P01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Muhafazakâr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40280" y="1783080"/>
            <a:ext cx="3657600" cy="38404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2240280" y="1783080"/>
            <a:ext cx="632012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13432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141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783080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675 elendi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35000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P02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Dengeli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40280" y="2350008"/>
            <a:ext cx="3657600" cy="38404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2240280" y="2350008"/>
            <a:ext cx="1376082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13432" y="235000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307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35000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509 elendi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169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P03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Agresif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40280" y="2916936"/>
            <a:ext cx="3657600" cy="38404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6" name="Shape 14"/>
          <p:cNvSpPr/>
          <p:nvPr/>
        </p:nvSpPr>
        <p:spPr>
          <a:xfrm>
            <a:off x="2240280" y="2916936"/>
            <a:ext cx="2810435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313432" y="291693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627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9169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189 elendi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838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P04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Dengeli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240280" y="3483864"/>
            <a:ext cx="3657600" cy="38404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1" name="Shape 19"/>
          <p:cNvSpPr/>
          <p:nvPr/>
        </p:nvSpPr>
        <p:spPr>
          <a:xfrm>
            <a:off x="2240280" y="3483864"/>
            <a:ext cx="1402976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13432" y="348386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313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48386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503 elendi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050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P05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Temkinli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240280" y="4050792"/>
            <a:ext cx="3657600" cy="38404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40280" y="4050792"/>
            <a:ext cx="802341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313432" y="405079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405079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637 elendi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82880" cy="18288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4672" y="4663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puanlanan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286000" y="4709160"/>
            <a:ext cx="182880" cy="18288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542032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elenen (gerekçe ve kanıt kimliğiyle)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Evren: 814 fon ve 2 ING mevduatı. Bir fon birden çok kurala takılabilir; her gerekçe "Elenenler" listesinde görünür.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0" y="1280160"/>
            <a:ext cx="521208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35" name="Shape 33"/>
          <p:cNvSpPr/>
          <p:nvPr/>
        </p:nvSpPr>
        <p:spPr>
          <a:xfrm>
            <a:off x="6629400" y="1463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0101" y="1583741"/>
            <a:ext cx="261518" cy="26151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7269480" y="1463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Katı kurallar (sırayla)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6675120" y="2103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Alıma kapalı veya işlem görmüyor: 189 fon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 tavanı: SPK risk değeri tavanın üstünde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Açık kısıt: P02 döviz 14 fon, P05 valör &gt; 3 gün 2 fon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Kısa geçmiş: yalnızca 1 aylık getiri var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400800" y="3840480"/>
            <a:ext cx="52120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0" name="Shape 37"/>
          <p:cNvSpPr/>
          <p:nvPr/>
        </p:nvSpPr>
        <p:spPr>
          <a:xfrm>
            <a:off x="6629400" y="40233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101" y="4144061"/>
            <a:ext cx="261518" cy="261518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726948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Puan = Σ ağırlık × kriter − Σ ceza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667512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Getiri: stopaj ve TÜFE sonrası reel getiri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 uyumu, likidite, gelir, anapara, kalite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Ağırlıklar müşterinin seviyelerinden gelir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Dengeli / Agresif: sınıf başına en çok 1 öneri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Belirsizlik gizlenmez: tahmin yerine soru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Güven (0–1)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Seçeneğin kullandığı en zayıf veri satırı × tahmin katsayıları. P01: 141 seçeneğin 102'si 0,90; risk değeri tahmin edilen 27 seçenek 0,63.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32588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16002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914" y="17318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İstikrar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2860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Ağırlıklar ve cezalar 30 kez ±%20 değişir. Ölçü: seçeneğin ilk 20'de kalma oranı. İlk 3'te 0,5'in altı bir uyarı verir.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61188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401787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3886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Tahmin yerine soru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5720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Risk profili veya kısıt tanınmazsa sıralama durur (needs_rm_input). Diğer alanlarda güvenli düzey ve "Teyit edin" sorusu.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217920" y="361188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92240" y="38862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14" y="40178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886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Eksik risk değeri (D21)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492240" y="45720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Aynı varlık sınıfındaki bilinen değerlerin üst çeyreği. Altın fonu KZL: eski tahmin 1–2, yeni tahmin 6; Muhafazakâr listeden çıktı.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Varsayımlar ekranda ve kayıtta: geçmiş getiri bir tahmin değildir · TÜFE %29,73 · 100.000–249.999 TL dilimi · risk bantları [VARSAYIM]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LLM yalnızca yazar, kod denetler, RM onaylar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Görüşme metni nasıl üretilir?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916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Olgu paketi (kod)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Onaylı seçim, kanıt kimlikli sayılar, varsayımlar. Elenen ürün ve RM'e özel not girmez.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14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Metin (Claude Sonnet 5.5)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072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Yapılandırılmış JSON. Her cümle seçenek ve kanıt kimliği taşır.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337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Doğrulayıcı (kod)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63016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Olgu dışı sayı, izinsiz ürün adı, yasak ifade, kaynaksız cümle: ret.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605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Hata yolu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4531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Bulgularla 1 tekrar. Yine hata olursa şablon metin ve bir uyarı bandı.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İnsan onay noktaları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691640"/>
            <a:ext cx="685800" cy="594360"/>
          </a:xfrm>
          <a:prstGeom prst="hexagon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169164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İ1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16916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Soruları yanıtlar, "Teyit edin" maddelerini kontrol eder.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0" y="2560320"/>
            <a:ext cx="685800" cy="594360"/>
          </a:xfrm>
          <a:prstGeom prst="hexagon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25603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İ2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256032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Önerilen ilk 3'ü onaylar veya not yazıp reddeder. Zaman kaydedilir.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583680" y="3429000"/>
            <a:ext cx="685800" cy="594360"/>
          </a:xfrm>
          <a:prstGeom prst="hexagon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342900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İ3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52360" y="34290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Metni blok blok düzenler ve onaylar. Engelleyici bulgu onayı durdurur.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343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Çalışma anında ajan döngüsü yok: her metin tek çağrıdır (en çok 1 tekrar). Maliyet, süre ve davranış öngörülebilir.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516636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2303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0,046 $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7790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yeni metin başına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64992" y="516636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593592" y="52303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27 sn</a:t>
            </a:r>
            <a:endParaRPr lang="en-US" sz="2800" dirty="0"/>
          </a:p>
        </p:txBody>
      </p:sp>
      <p:sp>
        <p:nvSpPr>
          <p:cNvPr id="36" name="Text 34"/>
          <p:cNvSpPr txBox="1"/>
          <p:nvPr/>
        </p:nvSpPr>
        <p:spPr>
          <a:xfrm>
            <a:off x="3593592" y="57790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ortalama metin süresi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81344" y="516636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9944" y="52303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25 / 25</a:t>
            </a:r>
            <a:endParaRPr lang="en-US" sz="2800" dirty="0"/>
          </a:p>
        </p:txBody>
      </p:sp>
      <p:sp>
        <p:nvSpPr>
          <p:cNvPr id="39" name="Text 37"/>
          <p:cNvSpPr txBox="1"/>
          <p:nvPr/>
        </p:nvSpPr>
        <p:spPr>
          <a:xfrm>
            <a:off x="6409944" y="57790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LLM metni doğrulayıcıdan geçti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997696" y="516636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226296" y="52303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0</a:t>
            </a:r>
            <a:endParaRPr lang="en-US" sz="2800" dirty="0"/>
          </a:p>
        </p:txBody>
      </p:sp>
      <p:sp>
        <p:nvSpPr>
          <p:cNvPr id="42" name="Text 40"/>
          <p:cNvSpPr txBox="1"/>
          <p:nvPr/>
        </p:nvSpPr>
        <p:spPr>
          <a:xfrm>
            <a:off x="9226296" y="57790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yasak ifade ("garanti" vb.)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Canlı demo: P02 ve P01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21208" y="1298448"/>
            <a:ext cx="7278624" cy="3867404"/>
          </a:xfrm>
          <a:prstGeom prst="rect">
            <a:avLst/>
          </a:prstGeom>
          <a:solidFill>
            <a:schemeClr val="accent6"/>
          </a:solidFill>
          <a:ln/>
        </p:spPr>
      </p:sp>
      <p:pic>
        <p:nvPicPr>
          <p:cNvPr id="4" name="Image 0" descr="C:\Users\yardang\dev\ing-hackathon\prototype\docs\teslim\sunum\img\dashboard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38125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24814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P02 panosu: önerilen ilk 3, mevduatla karşılaştırma, "Teyit edin" ve onay çubuğu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Demoda bakılacaklar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138160" y="180136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1381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7830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P02: döviz kısıtı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0756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14 döviz fonu gerekçeyle elenir.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38160" y="26426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3816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2624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Öneriler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29169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Reel getiri, risk, erişim; "K" ile kanıt.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38160" y="3483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3816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655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Dağılım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375818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Model bantlar ve sınıfın en iyi seçeneği.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138160" y="43251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13816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0" y="43068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RM onayı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599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Görüşme metni, blok düzenleme, metin onayı.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138160" y="51663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3816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0" y="51480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P01: Muhafazakâr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0" y="54406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675 eleme; altın / döviz için uygun fon yok.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34 senaryo: kurallar %100, kısıt ihlali 0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060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%100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kural kontrolleri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218 geçti, 0 kaldı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060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93592" y="1371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kısıt ihlali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37 / 37 kontrol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1280160"/>
            <a:ext cx="26060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9944" y="1371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25 / 25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LLM metni geçti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9944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şablona düşüş yok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97696" y="1280160"/>
            <a:ext cx="26060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26296" y="1371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5 / 5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226296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tekrar tutarlılığı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aynı girdi, aynı sonuç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0632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Senaryo grupları (39 çalıştırma, dondurulmuş veri)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Temel P01–P05 (her biri 2 kez)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566160" y="3557016"/>
            <a:ext cx="1019908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7508" y="35204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4106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Hatalı / çelişkili veri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66160" y="3977640"/>
            <a:ext cx="611945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69545" y="394106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361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Persona değişikliği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566160" y="4398264"/>
            <a:ext cx="1019908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77508" y="43616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8231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Açık kısıt eklenir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566160" y="4818888"/>
            <a:ext cx="815926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73526" y="478231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20293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Kaynak erişilemez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566160" y="5239512"/>
            <a:ext cx="815926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73526" y="52029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62356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Regresyon (geçmiş hatalar)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566160" y="5660136"/>
            <a:ext cx="2651760" cy="25603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09360" y="56235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13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949440" y="3063240"/>
            <a:ext cx="46634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7804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Dil kalitesi: LLM hakemi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178040" y="3657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Uyarlanmış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595360" y="3694176"/>
            <a:ext cx="2377440" cy="256032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2" name="Shape 40"/>
          <p:cNvSpPr/>
          <p:nvPr/>
        </p:nvSpPr>
        <p:spPr>
          <a:xfrm>
            <a:off x="8595360" y="3694176"/>
            <a:ext cx="1236269" cy="25603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064240" y="36576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%52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178040" y="41148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RM için açık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595360" y="4151376"/>
            <a:ext cx="2377440" cy="256032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6" name="Shape 44"/>
          <p:cNvSpPr/>
          <p:nvPr/>
        </p:nvSpPr>
        <p:spPr>
          <a:xfrm>
            <a:off x="8595360" y="4151376"/>
            <a:ext cx="1188720" cy="25603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1064240" y="41148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%50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178040" y="4572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Dengeli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595360" y="4608576"/>
            <a:ext cx="2377440" cy="256032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0" name="Shape 48"/>
          <p:cNvSpPr/>
          <p:nvPr/>
        </p:nvSpPr>
        <p:spPr>
          <a:xfrm>
            <a:off x="8595360" y="4608576"/>
            <a:ext cx="1426464" cy="25603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1064240" y="45720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%60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7178040" y="512064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Yön göstergesi: hakem katı ve küçük bir model (Claude Haiku 5.5). Kural kontrolleri hakeme bırakılmaz. Ek olarak 1.774 pytest testi, ağ erişimi yok.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Hata: kurallar geçti, herkes aynı öneriyi aldı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2062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Önce (12.10.2026)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P01 Muhafazakâr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3 nakit benzeri, risk 1 (= P04)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P02 Dengeli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07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3 nakit benzeri, risk 1 (= P05)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912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P04 Dengeli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6557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3 nakit benzeri, risk 1 (= P01)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496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P05 Temkinli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1239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3 nakit benzeri, risk 1 (= P02)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079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P03 Agresif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782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farklı bir set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1417320"/>
            <a:ext cx="2194560" cy="5486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8348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Düzeltme D19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2148840"/>
            <a:ext cx="2240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Geçmiş getiri baskındı (nakit reel +%7–9, altın −%13)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→ risk uyumu bandı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Çeşitlilik fon türünde ölçülüyordu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→ varlık sınıfı ve sınıf kuralı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→ negatif reel getirili fon öne çıkmaz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06640" y="1280160"/>
            <a:ext cx="42062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3524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Sonra (D19)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63524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P01 Muhafazakâr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635240" y="2148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değişmedi (doğru davranış)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63524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P02 Dengeli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2807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nakit r2 · borçlanma r2 · dengeli r3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31912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P04 Dengeli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635240" y="346557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borçlanma r3 · nakit r2 · dengeli r3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496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P05 Temkinli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41239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 nakit benzeri, risk 2 (kendi bandı)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635240" y="45079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P03 Agresif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635240" y="4782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dengeli r6 · hisse r7 · borçlanma r3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accent5"/>
          </a:solidFill>
          <a:ln/>
        </p:spPr>
      </p:sp>
      <p:sp>
        <p:nvSpPr>
          <p:cNvPr id="31" name="Shape 29"/>
          <p:cNvSpPr/>
          <p:nvPr/>
        </p:nvSpPr>
        <p:spPr>
          <a:xfrm>
            <a:off x="731520" y="5532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663794"/>
            <a:ext cx="285293" cy="285293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463040" y="54864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Öğrenim: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"kurallar %100" yeterli değil. Çıktılar arası karşılaştırma ve insan incelemesi gerekir. Şimdi 5 persona, 5 farklı set.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Sınırlarımız ve sonraki adımlar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5544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697126"/>
            <a:ext cx="309067" cy="30906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544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Sınırlar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Sonuçlar 10.10.2026 dondurulmuş verisine aittir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RM'in bugünkü hazırlık süresi ölçülmedi [VARSAYIM]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Risk ve dağılım bantları tek kaynaktan [VARSAYIM]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Sınıf kuralıyla gelen önerilerde istikrar ölçüsü anlamlı değil (P03: OKT)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LLM hakemi yalnızca yön gösterir; ikinci hakem yok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155448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6" y="169712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5544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Sonraki adımlar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37744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Mevcut portföy girdisi ve bantlarla boşluk analizi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Yaşam olayları, hedefler ve görüşme sonrası "Takip" adımı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Bankanın model portföyleri, resmî oran ve stopaj akışı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RM incelemesi ile hakemin kalibrasyonu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KAP için lisanslı veri; kimlik doğrulama ve denetim deposu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Karar desteği, yatırım tavsiyesi değil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116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21872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Deterministik çekirdek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4290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Kısıt ihlali 0. Aynı girdi aynı sonucu ve aynı metni verir.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116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005" y="218724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Her sayı kanıtla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4290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Kaynak, tarih, alınma zamanı ve kanıt kimliği. Her karar kayda geçer.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11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765" y="218724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RM kontrolde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4290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Üç onay noktası. Müşteriye otomatik iletim yok.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Teşekkürler. Sorularınızı ve Jüri Challenge koşullarını bekliyoruz.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Ek: soru-cevap için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Jüri Challenge davranışları, P02 örneği, kanıt kaydı, dağılım bantları, onay noktaları, metin kalitesi, yöntem seçimi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138160" y="182880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8746" y="2399386"/>
            <a:ext cx="1236269" cy="12362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Jüri Challenge: koşul değişince ne olur?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5120640"/>
                <a:gridCol w="1920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Değişiklik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Sistemin davranışı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Eval grubu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Risk profili değişir (P03 Agresif → Muhafazakâr)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Tavan 2'ye iner; öneriler, dağılım bantları ve metin yeniden üretilir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Persona değişikliği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Yeni açık kısıt ("döviz istemiyor", "yüksek riskli ürün istemiyor")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Katı kural: ilgili fonlar elenir, gerekçe listede görünür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Kısıt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Tanınmayan kısıt veya risk profili metni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Sıralama durur; RM'e soru açılır (needs_rm_input)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Kısıt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Vade kısalır veya likidite "Yüksek" olur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Getiri dönemi ve likidite ağırlığı değişir; sonuç beklenen yönde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Persona değişikliği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Kaynak erişilemez (TEFAS web dışlanır)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Fon önerilmez; P01'de 2 seçenek kalır, eksik kaynak notta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Veri erişimi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Hatalı veya çelişkili veri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Bayrak; aralık dışı değer kullanılmaz, güven düşer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Hatalı veri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Ekranda "Profili düzenle"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Test çalıştırması: sonuç görünür, onaylanamaz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Arka uç kuralı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P02 örneği: ağırlıklar müşteriden gelir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P02 ağırlıkları (Dengeli, 1–3 yıl, likidite / gelir / anapara Orta)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Reel getiri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03120" y="2002536"/>
            <a:ext cx="2926080" cy="2926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120640" y="19659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0,339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Risk uyumu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03120" y="2551176"/>
            <a:ext cx="1752195" cy="2926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46755" y="2514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0,203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Likidite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03120" y="3099816"/>
            <a:ext cx="1752195" cy="2926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946755" y="3063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0,203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Gelir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103120" y="3648456"/>
            <a:ext cx="880413" cy="2926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74973" y="3611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0,102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60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Anapara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103120" y="4197096"/>
            <a:ext cx="880413" cy="2926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074973" y="4160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0,102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09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Kalite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103120" y="4745736"/>
            <a:ext cx="440207" cy="2926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34767" y="4709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0,051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3949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"Erişilebilir likidite" önceliği likiditeye +1 ekler; toplam 1'e normalleştirilir.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00584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Seçenek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Sınıf, risk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Reel 1 yıl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Puan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BVF · BV Para Piyasası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nakit,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+%8,0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0,775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NJR · Nurol Borçlanma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borçlanma,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+%8,4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0,737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IRF · İstanbul Fon Sepeti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dengeli,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+%12,8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0,718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Turuncu Hesap (taban)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nakit,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−%8,3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0,187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6217920" y="3886200"/>
            <a:ext cx="53949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46520" y="406908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EIL (0,774) BVF'ye çok yakın, ama ikinci nakit benzeri: alternatif kalır.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KDE (0,736) IRF'den yüksek, ama borçlanma sınıfı NJR ile dolu.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Turuncu Hesap reel −%8,3: reel zarar ve piyasa altı cezaları alır.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Her sayı kaynağı ve zamanıyla görünür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21208" y="1344168"/>
            <a:ext cx="4992624" cy="3515705"/>
          </a:xfrm>
          <a:prstGeom prst="rect">
            <a:avLst/>
          </a:prstGeom>
          <a:solidFill>
            <a:schemeClr val="accent6"/>
          </a:solidFill>
          <a:ln/>
        </p:spPr>
      </p:sp>
      <p:pic>
        <p:nvPicPr>
          <p:cNvPr id="4" name="Image 0" descr="C:\Users\yardang\dev\ing-hackathon\prototype\docs\teslim\sunum\img\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937760" cy="346084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942169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"K" işareti: değer, kaynak, tarih, alınma zamanı, kanıt kimliği, bayrak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32588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Karar kaydı neyi tutar?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35040" y="1874520"/>
            <a:ext cx="55778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63640" y="187452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Çalıştırma: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kimlik, yapılandırma özeti, veri anlık görüntüsü, dışlanan kaynaklar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35040" y="2743200"/>
            <a:ext cx="55778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263640" y="274320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RM kararı: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durum, seçim, notlar, karar zamanı (Türkiye saati)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35040" y="3611880"/>
            <a:ext cx="55778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63640" y="361188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Görüşme metni: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model, istem sürümü, doğrulayıcı sonucu, maliyet, onay zamanı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035040" y="4480560"/>
            <a:ext cx="55778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448056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Her sayı: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kanıt kimliğiyle kaynağa bağlı; aynı girdi aynı kimliği verir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54406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Teslimat 6'daki örnek kayıt (P02) bir betikle onaylandı; demoda onayı RM ekranda verir.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Dağılım: risk profiline göre model bantlar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21208" y="1298448"/>
            <a:ext cx="7004304" cy="4295200"/>
          </a:xfrm>
          <a:prstGeom prst="rect">
            <a:avLst/>
          </a:prstGeom>
          <a:solidFill>
            <a:schemeClr val="accent6"/>
          </a:solidFill>
          <a:ln/>
        </p:spPr>
      </p:sp>
      <p:pic>
        <p:nvPicPr>
          <p:cNvPr id="4" name="Image 0" descr="C:\Users\yardang\dev\ing-hackathon\prototype\docs\teslim\sunum\img\al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949440" cy="42403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325880"/>
            <a:ext cx="374904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55448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Kaynak: Ata Yatırım, 28.04.2026, risk profiline göre örnek portföyler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Temkinli bandı kaynakta yok: bizim çıkarımımız [VARSAYIM]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Her sınıfta bu müşteriye en iyi seçenek; uygun fon yoksa nedeni yazılır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Bantlar puana girmez. Mevcut pay yok; boşluk analizi gelecek iş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Üç onay noktası, müşteriye otomatik iletim yok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21208" y="1298448"/>
            <a:ext cx="6638544" cy="3483864"/>
          </a:xfrm>
          <a:prstGeom prst="rect">
            <a:avLst/>
          </a:prstGeom>
          <a:solidFill>
            <a:schemeClr val="accent6"/>
          </a:solidFill>
          <a:ln/>
        </p:spPr>
      </p:sp>
      <p:pic>
        <p:nvPicPr>
          <p:cNvPr id="4" name="Image 0" descr="C:\Users\yardang\dev\ing-hackathon\prototype\docs\teslim\sunum\img\meeting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6460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Onaylı görüşme metni (P02): onay zamanı, model, kontrol sonucu; sağda "RM notu · yalnızca sizin için"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498080" y="1371600"/>
            <a:ext cx="685800" cy="594360"/>
          </a:xfrm>
          <a:prstGeom prst="hexagon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0" y="137160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İ1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13716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Engelleyici soru açıkken sıralama yapılmaz.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8080" y="2286000"/>
            <a:ext cx="685800" cy="594360"/>
          </a:xfrm>
          <a:prstGeom prst="hexagon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98080" y="228600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İ2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22860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 not ister. Metin yalnızca onaylı seçim için üretilir.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498080" y="3200400"/>
            <a:ext cx="685800" cy="594360"/>
          </a:xfrm>
          <a:prstGeom prst="hexagon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98080" y="320040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İ3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200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Yasak ifade, izinsiz ürün veya iç bilgi onayı engeller.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98080" y="4251960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26680" y="438912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RM'e özel not müşteri metnine girmez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Uygulama yalnızca 127.0.0.1 adresinde çalışır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Düzenlenmiş persona onaylanamaz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Metin kalitesi: hakeme göre optimize etmedik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Ölçü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Önce (n6, j2)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Sonra (n9, j3)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P01 metni, kelime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P01'de "geçmiş" sözcüğü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Fonun adıyla başlayan öneri cümlesi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 / 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 / 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Doğrulayıcı geçiş, şablona düşüş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%100, 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%100, 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Hakem: uyarlanmış / açık / dengeli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%57 / %50 / %50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%52 / %50 / %60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Metin başına maliyet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0,042 $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0,046 $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223760" y="1325880"/>
            <a:ext cx="4389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45236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Neden durduk?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52360" y="187452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İstemi bir LLM hakeminin zevkine göre ayarlamak, RM için daha iyi metin demek değil. Ölçülebilir kurallar ekledik (shape, repeat, compare).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223760" y="3200400"/>
            <a:ext cx="4389120" cy="1965960"/>
          </a:xfrm>
          <a:prstGeom prst="roundRect">
            <a:avLst>
              <a:gd name="adj" fmla="val 5581"/>
            </a:avLst>
          </a:prstGeom>
          <a:solidFill>
            <a:schemeClr val="accent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3337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Değerlendirmenin kendi hatası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3749040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Anlatıcı maliyeti 0 $ çıktı: önbellek anahtarında RM seçimi yoktu, eski metin döndü. Anahtara olgu paketinin özeti eklendi (N12). Beklenmedik derecede iyi bir ölçüm de bir hata işaretidir.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Neden kural ve şeffaf puan?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74320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Ölçüt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Kural + şeffaf puan (seçilen)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ML sıralama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Yalnızca LLM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Veri ihtiyacı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Etiket gerekmez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Geçmiş RM kararları gerekir; yok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Etiket gerekmez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Denetlenebilirlik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Her puan parçası kanıta bağlı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Öznitelik önemi yaklaşık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Gerekçe doğrulanamaz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Düzenleyici kurallar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Katı kural; ihlal mümkün değil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Yalnızca öğrenilmiş eğilim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İstemle; ihlal mümkün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Determinizm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Aynı girdi, aynı sonuç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Eğitim sürümüne bağlı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Aynı istem, farklı çıktı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Değişiklik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Yapılandırma dosyası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Yeniden eğitim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Öngörülemez etki</a:t>
                      </a:r>
                      <a:endParaRPr lang="en-US" sz="1400" dirty="0"/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Yerindelik önce bir kısıt problemidir (risk tavanı, alıma açıklık, açık kısıtlar), sonra çok kriterli bir ödünleşimdir. Ağırlıkları biz seçeriz ve açıkça gösteririz; RM onayları biriktiğinde bir modelle ayarlanabilir.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G RM Hazirlik">
  <a:themeElements>
    <a:clrScheme name="ING RM Hazirlik">
      <a:dk1>
        <a:srgbClr val="1C2340"/>
      </a:dk1>
      <a:lt1>
        <a:srgbClr val="FFFFFF"/>
      </a:lt1>
      <a:dk2>
        <a:srgbClr val="475569"/>
      </a:dk2>
      <a:lt2>
        <a:srgbClr val="F1F3F7"/>
      </a:lt2>
      <a:accent1>
        <a:srgbClr val="FF6200"/>
      </a:accent1>
      <a:accent2>
        <a:srgbClr val="34407A"/>
      </a:accent2>
      <a:accent3>
        <a:srgbClr val="15803D"/>
      </a:accent3>
      <a:accent4>
        <a:srgbClr val="B91C1C"/>
      </a:accent4>
      <a:accent5>
        <a:srgbClr val="FFE6D5"/>
      </a:accent5>
      <a:accent6>
        <a:srgbClr val="DCE3F0"/>
      </a:accent6>
      <a:hlink>
        <a:srgbClr val="2563EB"/>
      </a:hlink>
      <a:folHlink>
        <a:srgbClr val="7C3AED"/>
      </a:folHlink>
    </a:clrScheme>
    <a:fontScheme name="ING RM Hazirli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RM Görüşme Hazırlığı · Teslimat 7</dc:title>
  <dc:subject>PptxGenJS Presentation</dc:subject>
  <dc:creator>ING Agentic AI Hackathon takımı</dc:creator>
  <cp:lastModifiedBy>ING Agentic AI Hackathon takımı</cp:lastModifiedBy>
  <cp:revision>1</cp:revision>
  <dcterms:created xsi:type="dcterms:W3CDTF">2026-10-13T08:48:08Z</dcterms:created>
  <dcterms:modified xsi:type="dcterms:W3CDTF">2026-10-13T08:48:08Z</dcterms:modified>
</cp:coreProperties>
</file>