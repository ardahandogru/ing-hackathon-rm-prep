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iriş" id="{8679D8CC-7BCC-997D-0891-7020282C9FB9}">
          <p14:sldIdLst>
            <p14:sldId id="256"/>
            <p14:sldId id="257"/>
          </p14:sldIdLst>
        </p14:section>
        <p14:section name="Çözüm" id="{668CA352-57B2-2184-E759-ADAD23962CF2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Demo" id="{168643CC-9698-679A-8E64-F375157EAAD7}">
          <p14:sldIdLst>
            <p14:sldId id="264"/>
          </p14:sldIdLst>
        </p14:section>
        <p14:section name="Sonuçlar" id="{27E9C16C-DEEA-52BD-979C-617774EBB711}">
          <p14:sldIdLst>
            <p14:sldId id="265"/>
            <p14:sldId id="266"/>
            <p14:sldId id="267"/>
          </p14:sldIdLst>
        </p14:section>
        <p14:section name="Ek" id="{B4836AC6-44F6-73B5-EDAA-4B18D70AF4E4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6010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0:10]
Merhaba, biz Agent 007. Private Banking RM'lerinin müşteri görüşmesi hazırlığı için bir karar destek aracı geliştirdik. 10 dakikada problemi, çözümü, canlı demoyu ve test sonuçlarımızı göstereceğiz.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0:50]
RM görüşmeden önce TCMB, TEFAS, Borsa İstanbul ve banka sayfalarındaki veriyi elle birleştiriyor. Kendi verimizle ölçtük: 17 Ekim'de 1.444 seçenek var; Muhafazakâr bir müşteri için bile kurallardan sonra 143 seçenek kalıyor. İkinci içgörü: nominal getiri yanıltıcı. Turuncu Hesap %23 faiz veriyor ama stopaj ve enflasyondan sonra reel −%8,3; aynı risk seviyesindeki para piyasası fonları reel +%6,6. Bizim sistemimizde analiz yaklaşık 1 saniye, metin 25 saniye; bugünkü 60 dakikalık hazırlık süresi bir varsayım, mentorlarla teyit edeceğiz. Alttaki dört gösterge test paketimizde ölçüldü.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0:40]
İşi dört katmana ayırdık. Mavi kutular kod: veri ve puanlama motoru. Motor aynı girdiyle her zaman aynı sonucu verir ve her adımı açıklanabilir. Mor kutular dil modeli: isteğe bağlı ajan ve görüşme metni. Turuncu RM: kararı her zaman RM verir. Tek ilkemiz: dil modeli hiçbir ürünü elemez, hiçbir kuralı aşamaz; çıktısını kod denetler, geçmezse yedek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0:40]
Veriyi resmî ve kamuya açık kaynaklardan her sabah 07:30'da topluyoruz; RM isterse o an yeniler. Ham veri snapshot olarak SHA-256 özetiyle saklanır. Kalite kontrolleri değeri değiştirmez, bayrak ekler. Ekrandaki her sayının yanında bir K işareti var: tıklayınca değeri, kaynağı, değer tarihini, alınma zamanını ve kanıt kimliğini görürsünüz. KAP botları engelliyor; engeli aşmıyoruz, fon belgeleri için yöneticinin kendi sitesine bağlantı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4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Motor dört eleme kuralıyla başlar: alıma kapalı fon, risk tavanı, açık kısıtlar ve kısa geçmiş. P02 için 1.444 seçenekten 1.138'i elenir, bunların 15'i döviz kısıtı yüzünden. Kalan 306 aday 8 ölçütle puanlanır; ağırlıkları müşterinin profili belirler, P02'de getiri %34, likidite ve risk uyumu %20. İlk 3 varlık sınıflarına yayılır. Neden makine öğrenmesi değil: etiketli geçmiş veri yok ve uygunluk kuralı olasılıkla değil, kesin uygulanmalı.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5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0:40]
Veri eksik, eski ya da çelişkili olduğunda bunu saklamıyoruz. Her öneri bir veri güveni taşır. İstikrar testi ağırlıkları %20 oynatıp sıralamayı yeniden hesaplar. Motor risk profilini veya bir kısıtı okuyamazsa tahmin etmez: sıralamayı durdurur ve RM'e soru sorar. Profil kendisiyle çelişirse, örneğin dosyada 62 yaş ama notta '45 yaşında', sabit kurallar ve yapay zekâ kontrolü bunu bulur; RM gerekçe yazmadan onay veremez.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6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Ajan kendiliğinden başlamaz; RM 'Ajanı çalıştır' der. Ajan motorun en iyi adaylarını, web araştırmasını ve müşterinin dağılımını görür, üç aracı vardır ve kendi ilk 3'ünü önerir. Kararını kod denetler: her gerekçe bir kanıta ya da puan parçasına atıf yapmalı, her sayı o veride bulunmalı. Geçmezse bir düzeltme hakkı var; yine geçmezse RM motorun kendi listesini görür. Görüşme metninde de aynı düzen var: doğrulayıcı olgu dışı sayıyı, elenmiş ürünü ve yasak ifadeyi reddeder; bir tekrar, sonra şablon metin.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7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0:30]
RM'in karar verdiği altı nokta var. Hazırlık sayfasında soruları yanıtlar, çelişkileri çözer, isterse ajanı çalıştırır, sonra önerileri onaylar. Metin yalnızca onaylanan ürünlerle yazılır; RM blokları düzenler ve kartı alır. İki kilit var: çözülmemiş çelişkiyle onay yok, açık bir kural bulgusuyla kart yok. Müşteriye giden bir kanal yok ve her adım zamanıyla kayda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8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ekranı kullanır, Öykü anlatır · 3:00]
Önceden hazırlanmış P02 çalıştırması açık olmalı (ajan ve metin kayıtlı, anında gelir). 0:00 Hazırlık sayfası: profil, AI'ın bulduğu iki soru, piyasa notunda bir K'ya tıkla (kaynak, tarih, alınma zamanı). 0:30 'Bu öneriler nasıl seçildi?': 1.444 seçenek, 1.138 elendi, döviz kısıtı 15; 'Elenenleri gör'. 1:00 EIL fon kartı: puan parçaları, geçtiği kurallar, en yakın alternatif. 1:20 Ajan: beş adım, ajanın ilk 3'ü ve motorun ilk 3'ü yan yana, bir bulguyu onayla. 1:50 'Onayla ve metni hazırla': görüşme metni, beyaz ve sarı alanlar, bir bloğu düzenle, Sunum görünümü. 2:30 Koşul değişikliği: döviz kısıtını gerekçeyle kaldır; sıralama yeniden hesaplanır ve döviz fonları geri gelir. Uygulama açılmazsa kısa demo videosunu oynat.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9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Dört katmanda test ettik. Brief'in kesin kuralları için hedefimiz %100: 34 senaryo ve 39 çalıştırmada kural kontrolleri %100, kısıt ihlali 0, aynı girdi 5'te 5 aynı sonucu verdi. Metin kalitesini bir dil modeli hakemi puanlıyor; bunu yalnızca yön göstergesi olarak okuyoruz. Ajan için dürüst olalım: 8 kararın hepsi denetimden geçti. Kör A/B'de iki farklı firmanın modelini hakem yaptık; 5 sorunun 4'ünde aynı kazananı seçtiler ve ajan çoğunlukla kazandı. Ama soru sayısı az ve hakemler de dil modeli; bu yüzden RM iki listeyi de görüyor ve ajan isteğe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10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0:40]
İki hata analizi. Birincisi: tüm kurallar geçerken 5 müşterinin 4'üne yalnızca risk 1 nakit benzeri fonlar önerildi; çünkü geçmiş getiri baskındı. Risk uyumu bandı ve varlık sınıfı kuralı ekledik; şimdi 5 profilde 5 farklı set var. İkincisi: profil kendisiyle çelişebiliyordu. 5 personaya bilerek çelişki koyduk: sabit kurallar hiçbirini bulamadı, AI kontrolü 5'ini de buldu. Şimdi RM gerekçe yazmadan onay veremiyor. Hız sorununu da profil çıkararak bulduk ve çözdük.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0:30]
Sınırlarımızı açıkça söylüyoruz: hazırlık süresi kazancını ölçmedik, ağırlıklar ve bantlar bizim seçimimiz, hakem bir dil modeli ve personalar sentetik. Sonraki adımlar: bankanın gerçek portföy verisi, RM kayıtlarından otomatik değerlendirme döngüsü ve lisanslı KAP verisi. Özetle: kararı kod verir, her sayı kanıtlıdır, son söz RM'indir. Teşekkürler; Jüri Challenge koşullarınızı canlı olarak deneyebiliriz.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14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15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16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17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18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19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20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ERI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pic>
        <p:nvPicPr>
          <p:cNvPr id="4" name="Image 0" descr="C:\Users\yardang\dev\ing-hackathon\prototype\web\public\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384048" cy="228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24128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007 · RM görüşme hazırlığı · ING Agentic AI Hackathon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YU">
    <p:bg>
      <p:bgPr>
        <a:solidFill>
          <a:srgbClr val="1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6200"/>
          </a:solidFill>
          <a:ln/>
        </p:spPr>
      </p:sp>
      <p:pic>
        <p:nvPicPr>
          <p:cNvPr id="3" name="Image 0" descr="C:\Users\yardang\dev\ing-hackathon\prototype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749040" cy="26721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1280160"/>
            <a:ext cx="27432" cy="4480560"/>
          </a:xfrm>
          <a:prstGeom prst="rect">
            <a:avLst/>
          </a:prstGeom>
          <a:solidFill>
            <a:srgbClr val="D0D5D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0" y="146304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hazırlığı: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kanıta dayalı yatırım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desteği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Banking RM'leri için: veriden görüşme metnine, her adımda RM kontrolü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669280" y="4800600"/>
            <a:ext cx="1097280" cy="54864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0" y="5029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007 · Yusuf Ardahan Doğru, Öykü Irmak Hatipoğlu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Agentic AI Hackathon · Ekim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RM'in hazırlığı: yüzlerce ürün, dağınık veri, kayıt yok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her görüşmeden önce yüzlerce ürünü her gün değişen kaynaklardan elle karşılaştırıyor. İş yavaş, müşteriye yeterince uyarlanmıyor, kısıt kaçabiliyor ve önerinin hangi veriye dayandığı sonradan gösterilemiyor.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1.444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seçenek (17.10.2026)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815 fon, 37 BYF, 590 pay, 2 ING mevduatı. Muhafazakâr P01 için kurallar 1.301'ini eler; kalan 143'ü elle sıralamak bir hazırlığa sığmaz.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−%8,3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Turuncu Hesap, reel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%23 faiz, stopaj ve yıllık TÜFE (%29,73) sonrası. Aynı risk sınırındaki 37 para piyasası fonu: reel medyan +%6,6.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~26 sn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 ve görüşme metni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~1,2 sn, metin ~24,9 sn (ortalama). Bugünkü hazırlık görüşme başına ~60 dk [VARSAYIM, mentorlarla teyit].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Beklenen iş etkisi (ölçüldü)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 çalıştırma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64992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47872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4690872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tutarlılığı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547872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girdi, aynı sonuç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81344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farklı öneri seti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müşteri profilinde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97696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80576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39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323576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 atfı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kanıt kimliğiyle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Kararı kod hazırlar, dil modeli yazar, son söz RM'in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EEF2F9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" y="1508760"/>
            <a:ext cx="640080" cy="64008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" y="166237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TEFAS, TCMB EVDS, Borsa İstanbul, ING oran sayfası. Her sabah 07:30, snapshot ve kalite bayrakları.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542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9" name="Shape 6"/>
          <p:cNvSpPr/>
          <p:nvPr/>
        </p:nvSpPr>
        <p:spPr>
          <a:xfrm>
            <a:off x="2834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EEF2F9"/>
          </a:solidFill>
          <a:ln/>
        </p:spPr>
      </p:sp>
      <p:sp>
        <p:nvSpPr>
          <p:cNvPr id="10" name="Shape 7"/>
          <p:cNvSpPr/>
          <p:nvPr/>
        </p:nvSpPr>
        <p:spPr>
          <a:xfrm>
            <a:off x="3035808" y="1508760"/>
            <a:ext cx="640080" cy="64008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9427" y="16623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35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Puanlama motoru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35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eleme kuralı, 8 ölçütlü şeffaf puan, ilk 3. Aynı girdi, aynı sonuç.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828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5" name="Shape 11"/>
          <p:cNvSpPr/>
          <p:nvPr/>
        </p:nvSpPr>
        <p:spPr>
          <a:xfrm>
            <a:off x="5120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4F3FF"/>
          </a:solidFill>
          <a:ln/>
        </p:spPr>
      </p:sp>
      <p:sp>
        <p:nvSpPr>
          <p:cNvPr id="16" name="Shape 12"/>
          <p:cNvSpPr/>
          <p:nvPr/>
        </p:nvSpPr>
        <p:spPr>
          <a:xfrm>
            <a:off x="5321808" y="1508760"/>
            <a:ext cx="640080" cy="64008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5427" y="1662379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21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(isteğe bağlı)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321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başlatır. Web araştırması ve karşılaştırmayla kendi ilk 3'ünü önerir; kod denetler.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114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21" name="Shape 16"/>
          <p:cNvSpPr/>
          <p:nvPr/>
        </p:nvSpPr>
        <p:spPr>
          <a:xfrm>
            <a:off x="7406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FE6D5"/>
          </a:solidFill>
          <a:ln/>
        </p:spPr>
      </p:sp>
      <p:sp>
        <p:nvSpPr>
          <p:cNvPr id="22" name="Shape 17"/>
          <p:cNvSpPr/>
          <p:nvPr/>
        </p:nvSpPr>
        <p:spPr>
          <a:xfrm>
            <a:off x="7607808" y="1508760"/>
            <a:ext cx="640080" cy="64008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1427" y="166237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7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onayı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607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Soruları yanıtlar, çelişkileri çözer, iki listeyi görür, onaylar.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400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27" name="Shape 21"/>
          <p:cNvSpPr/>
          <p:nvPr/>
        </p:nvSpPr>
        <p:spPr>
          <a:xfrm>
            <a:off x="9692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4F3FF"/>
          </a:solidFill>
          <a:ln/>
        </p:spPr>
      </p:sp>
      <p:sp>
        <p:nvSpPr>
          <p:cNvPr id="28" name="Shape 22"/>
          <p:cNvSpPr/>
          <p:nvPr/>
        </p:nvSpPr>
        <p:spPr>
          <a:xfrm>
            <a:off x="9893808" y="1508760"/>
            <a:ext cx="640080" cy="64008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7427" y="1662379"/>
            <a:ext cx="332842" cy="33284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893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metni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893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onaylı ürünlerle yazılır; doğrulayıcı her sayıyı ve adı denetler.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33" name="Shape 26"/>
          <p:cNvSpPr/>
          <p:nvPr/>
        </p:nvSpPr>
        <p:spPr>
          <a:xfrm>
            <a:off x="777240" y="4846320"/>
            <a:ext cx="685800" cy="68580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" y="5010912"/>
            <a:ext cx="356616" cy="35661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691640" y="466344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ilke: </a:t>
            </a:r>
            <a:r>
              <a:rPr lang="en-US" sz="15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 hiçbir ürünü elemez ve hiçbir kuralı aşamaz. Ajanın, metnin, profil kontrolünün ve web araştırmasının her çıktısını kod denetler; geçmezse deterministik bir yedek gelir. RM hiçbir zaman boş ekran veya uydurma veri görmez.</a:t>
            </a:r>
            <a:endParaRPr lang="en-US" sz="1500" dirty="0"/>
          </a:p>
        </p:txBody>
      </p:sp>
      <p:sp>
        <p:nvSpPr>
          <p:cNvPr id="36" name="Shape 28"/>
          <p:cNvSpPr/>
          <p:nvPr/>
        </p:nvSpPr>
        <p:spPr>
          <a:xfrm>
            <a:off x="548640" y="6035040"/>
            <a:ext cx="182880" cy="18288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2296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(deterministik)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3200400" y="6035040"/>
            <a:ext cx="182880" cy="182880"/>
          </a:xfrm>
          <a:prstGeom prst="rect">
            <a:avLst/>
          </a:prstGeom>
          <a:solidFill>
            <a:srgbClr val="6941C6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347472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 (kod denetler)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852160" y="6035040"/>
            <a:ext cx="182880" cy="18288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612648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kararı</a:t>
            </a:r>
            <a:endParaRPr lang="en-US" sz="12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kaynağı, tarihi ve kanıt kimliğiyle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Kaynak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Bize ne verir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TCMB EVDS (resmî API)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politika faizi, USD/TRY, fonlama maliyeti, mevduat faizi, TÜFE, BIST 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TEFAS getiri ve fon detayı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ay–5 yıl getiri, SPK risk değeri, valör, ücret, alım durumu, portföy dağılımı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Borsa İstanbul bültenleri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 pay ve 37 BYF: kapanış, getiri, oynaklık, hacim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 sayfası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Turuncu Hesap ve e-Vadeli oranları (yedek: elle girilen dosya)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Elle girilen dosya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 oranları ve TÜFE çapraz kontrolü; her satır kaynak bağlantılı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araştırması (Exa)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ilk 3 ve şirketleri için son 90 günün haberleri; "doğrulanmamış" etiketi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99248" y="1252728"/>
            <a:ext cx="3941064" cy="2778674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3" name="Image 0" descr="C:\Users\yardang\dev\ing-hackathon\prototype\docs\img\readme\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280160"/>
            <a:ext cx="3886200" cy="272381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26680" y="409541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"K" işareti: değer, kaynak, değer tarihi, alınma zamanı, kanıt kimliği, bayraklar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54864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8" name="Shape 4"/>
          <p:cNvSpPr/>
          <p:nvPr/>
        </p:nvSpPr>
        <p:spPr>
          <a:xfrm>
            <a:off x="73152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1" y="4784141"/>
            <a:ext cx="261518" cy="2615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3152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 baytlar ve SHA-256 özeti, salt okunur. replay aynı çıktıyı ağa çıkmadan üretir.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434340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13" name="Shape 8"/>
          <p:cNvSpPr/>
          <p:nvPr/>
        </p:nvSpPr>
        <p:spPr>
          <a:xfrm>
            <a:off x="452628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6981" y="4784141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6636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 bayrakları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52628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Eksik, eski, aralık dışı, çelişen, elle girilen. Bayrak değeri değiştirmez, güveni düşürür.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3816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18" name="Shape 12"/>
          <p:cNvSpPr/>
          <p:nvPr/>
        </p:nvSpPr>
        <p:spPr>
          <a:xfrm>
            <a:off x="832104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41" y="4784141"/>
            <a:ext cx="261518" cy="26151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Dürüst kaynak kullanımı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32104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robots.txt ve kullanım koşullarını okuduk. KAP botları engelliyor: engeli aşmıyoruz.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Önce katı kurallar, sonra şeffaf puan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461504" cy="3626705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406640" cy="357184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79433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(Dengeli ihracatçı), 17.10.2026: 1.444 seçenek → 1.138 elendi (döviz kısıtı 15) → 306 aday → 3 öneri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2344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7" name="Shape 4"/>
          <p:cNvSpPr/>
          <p:nvPr/>
        </p:nvSpPr>
        <p:spPr>
          <a:xfrm>
            <a:off x="8366760" y="13716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099" y="1476939"/>
            <a:ext cx="228234" cy="22823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15400" y="13716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Eleme kuralları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562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Alıma kapalı, risk tavanı, açık kısıtlar, kısa geçmiş. Elenen her ürün gerekçe ve kanıtla listelenir.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229600" y="26060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12" name="Shape 8"/>
          <p:cNvSpPr/>
          <p:nvPr/>
        </p:nvSpPr>
        <p:spPr>
          <a:xfrm>
            <a:off x="8366760" y="27432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2099" y="2848539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915400" y="27432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Puan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366760" y="32278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ağırlık × değer − Σ ceza; 8 ölçüt: reel getiri, risk uyumu, likidite, gelir, anapara, sadelik, kalite, portföy açığı.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229600" y="3977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17" name="Shape 12"/>
          <p:cNvSpPr/>
          <p:nvPr/>
        </p:nvSpPr>
        <p:spPr>
          <a:xfrm>
            <a:off x="8366760" y="41148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9" y="4220139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15400" y="41148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İlk 3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366760" y="45994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Dengeli ve Agresif müşteride sınıf başına en çok 1 ürün; RM'in önüne aynı türden üç fon gelmez.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E6D5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ML değil?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Etiketli geçmiş RM kararı yok; kural 5 (uygun olmayan ürün listeye girmez) her seferinde kesin olmalı; her puan parçası gösterilebilmeli. Ağırlıklar bizim seçimimiz [VARSAYIM] ve ekranda açık.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Belirsizliği saklamıyoruz: tahmin yerine soru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5947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63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güveni (0–1)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Kullanılan en zayıf veri satırı × katsayılar: elle girilen 0,9 · eski 0,7 · çelişen 0,6 · tahmini risk 0,7 · reel getiri hesaplanamadı 0,8.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344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1463040"/>
            <a:ext cx="548640" cy="54864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1594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463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İstikrar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1488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ağırlık ve ceza sınırı ×0,8 ve ×1,2: sıralama 30–32 kez yeniden hesaplanır. Ölçü: "öneri yine çıkıyor mu?"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2918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14" name="Shape 10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914" y="3652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Tahmin yerine soru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206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profili veya kısıt okunamazsa sıralama durur ve RM'e soru açılır. Diğer bilinmeyenlerde güvenli düzey ve "Teyit edin".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17920" y="32918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3520440"/>
            <a:ext cx="548640" cy="54864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3652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çelişkileri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206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sabit kural ve alıntılı AI kontrolü (Claude Opus 5.5). Çözülmemiş çelişki varken öneriler onaylanamaz.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1F3F7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Varsayımlar ekranda ve kayıtta: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geçmiş getiri tahmin değildir · TÜFE %29,73 · ING oranı için 100.000–249.999 TL dilimi · risk bantları ve ağırlıklar · mevcut portföy dağılımı tahmini (TCMB FİR); RM onaylar veya düzenler.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sınırlar içinde çalışır, her çıktısını kod denetler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004304" cy="656258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6949440" cy="6013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" y="1991282"/>
            <a:ext cx="7004304" cy="3056693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6" name="Image 1" descr="C:\Users\yardang\dev\ing-hackathon\prototype\docs\img\readme\agent-pi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018714"/>
            <a:ext cx="6949440" cy="30018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93695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P01: ajan AIS'i çıkarıp ZBJ'yi aldı ve nedenini yazdı; her gerekçe bir puan parçasına veya kanıt kimliğine bağlı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18120" y="1234440"/>
            <a:ext cx="3794760" cy="2377440"/>
          </a:xfrm>
          <a:prstGeom prst="roundRect">
            <a:avLst>
              <a:gd name="adj" fmla="val 3846"/>
            </a:avLst>
          </a:prstGeom>
          <a:solidFill>
            <a:srgbClr val="F4F3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0010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(Claude Sonnet 5.5)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7373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başlatır; motorun en iyi 10 adayı (RM 20'ye kadar seçer)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araç: karsilastir, arastir, karar_ver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bulguları veri, talimat değil; RM'in reddettiği bulgu ajana gitmez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818120" y="3749040"/>
            <a:ext cx="3794760" cy="2468880"/>
          </a:xfrm>
          <a:prstGeom prst="roundRect">
            <a:avLst>
              <a:gd name="adj" fmla="val 3704"/>
            </a:avLst>
          </a:prstGeom>
          <a:solidFill>
            <a:srgbClr val="EEF2F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001000" y="3840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denetimi ve yedek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2519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farklı aday, sınıf kuralı, en çok 1 pay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gerekçe bir kanıta, bulguya veya puan parçasına atıf yapar; her sayı o veride var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Hata: 1 düzeltme hakkı; sonra, 90 sn veya günlük 3 $ aşılırsa motorun ilk 3'ü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görmeden ve onaylamadan hiçbir şey ilerlemez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070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Teyit edin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soruları yanıtlar; her yanıt sıralamayı yeniden hesaplatır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9" name="Shape 7"/>
          <p:cNvSpPr/>
          <p:nvPr/>
        </p:nvSpPr>
        <p:spPr>
          <a:xfrm>
            <a:off x="293522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3522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Çelişkiler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3288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gerekçesini yazar veya profili düzeltir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14" name="Shape 12"/>
          <p:cNvSpPr/>
          <p:nvPr/>
        </p:nvSpPr>
        <p:spPr>
          <a:xfrm>
            <a:off x="480974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974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40740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0740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isteğe bağlı; web bulgularını onaylar veya reddeder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8426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konuşulacak ürünleri seçer, not yazar, onaylar veya reddeder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878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5878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5644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5644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blokları düzenler veya siler; düzenlenen blok yeniden denetlenir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92124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3330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3330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03096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3096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indirir; Sunum görünümü RM'e özel notları gizler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06908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EE4E2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4224528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4378147"/>
            <a:ext cx="332842" cy="332842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554480" y="41148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kilidi: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az 1 ürün seçili olmalı ve çözülmemiş profil çelişkisi olmamalı.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6217920" y="406908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EE4E2"/>
          </a:solidFill>
          <a:ln/>
        </p:spPr>
      </p:sp>
      <p:sp>
        <p:nvSpPr>
          <p:cNvPr id="38" name="Shape 35"/>
          <p:cNvSpPr/>
          <p:nvPr/>
        </p:nvSpPr>
        <p:spPr>
          <a:xfrm>
            <a:off x="6400800" y="4224528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419" y="4378147"/>
            <a:ext cx="332842" cy="332842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223760" y="41148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 kilidi: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Denetimde açık bir kural bulgusu varsa kart indirilemez ve yazdırılamaz.</a:t>
            </a:r>
            <a:endParaRPr lang="en-US" sz="1350" dirty="0"/>
          </a:p>
        </p:txBody>
      </p:sp>
      <p:sp>
        <p:nvSpPr>
          <p:cNvPr id="41" name="Shape 37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1F3F7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Müşteriye giden bir kanal yok: uygulama yalnızca RM'in bilgisayarında (127.0.0.1) çalışır.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adım (onay, ret, gerekçe, bulgu işareti, düzenleme) zamanıyla kayda geçer; düzenlenmiş profil kartta işaretlenir.</a:t>
            </a:r>
            <a:endParaRPr lang="en-US" sz="13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demo: P02, veriden görüşme metnine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095744" cy="4077589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040880" cy="40227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30317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hazırlık sayfası: profil, AI'ın bulduğu sorular, piyasa notu, onay çubuğu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909560" y="1234440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0" y="123444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Hazırlık sayfası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58191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profil, "Sorulacak" kartları, K ile kanıt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909560" y="2020824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0" y="202082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2084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Nasıl seçildi?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2368296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1.444 → 306 aday; döviz kısıtı 15 ürünü eler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09560" y="2807208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0" y="280720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0" y="2871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 kartı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154680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 parçaları, geçtiği kurallar, alternatif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09560" y="3593592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0" y="359359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3657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8686800" y="3941064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ajanın ve motorun ilk 3'ü yan yana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09560" y="4379976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FE6D5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46720" y="437997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1:50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0" y="44439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ve metin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686800" y="47274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beyaz alan müşteri için, sarı kutular RM için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909560" y="5166360"/>
            <a:ext cx="3703320" cy="694944"/>
          </a:xfrm>
          <a:prstGeom prst="roundRect">
            <a:avLst>
              <a:gd name="adj" fmla="val 13158"/>
            </a:avLst>
          </a:prstGeom>
          <a:solidFill>
            <a:srgbClr val="F1F3F7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46720" y="516636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2:30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0" y="5230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Koşul değişir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686800" y="5513832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döviz kısıtı gerekçeyle kaldırılır, liste değişir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5989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Yedek: kısa demo videosu (docs/demo/agent007-demo-P01-P03.mp4)</a:t>
            </a:r>
            <a:endParaRPr lang="en-US" sz="10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Kesin kurallarda hedef %100: 34 senaryo, 0 ihlal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%100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 kontrolleri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kontrol, 39 çalıştırma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64992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47872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 öneri listesi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1344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64224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doğrulayıcı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metin şablona düştü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696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80576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tutarlılığı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girdi, aynı sonuç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F1F3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Dört test katmanı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2461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Birim ve sözleşme: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3.082 pytest, 458 web testi; ağ yok, sahte model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Senaryo paketi: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senaryo, 39 çalıştırma, dondurulmuş veri; persona ve kısıt değişikliği, erişilemeyen kaynak, hatalı veri, 13 eski hata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değerlendirmesi: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karar, kör A/B hakemi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kontrol: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ekran incelemesi, RM işlem kaydından geri bildirim raporu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40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bu göstergeler? Brief'in kesin kuralları (kısıt, uydurma veri, kaynak, yasak ifade) için tek ihlal bile kabul edilmez. Metin kalitesini LLM hakemi puanlar: yalnızca yön göstergesi (%50 / %50 / %58).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274320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F4F3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Ajan, motordan daha iyi mi?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3291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918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kod denetiminden geçti; yedeğe düşme 0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3950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öneri, model yeniden çağrılınca korundu (5 / 8 karar aynı)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460857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60857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iki bağımsız hakem (Claude, Gemini) aynı kazananı seçti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5349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 A/B, farklı 5 soru: Haiku ajan 3, motor 1, eşit 1; Gemini ajan 4, motor 1. Az soru ve iki hakem de dil modeli: RM motorun listesini her zaman görür, ajan isteğe bağlıdır.</a:t>
            </a:r>
            <a:endParaRPr lang="en-US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Bulduğumuz hatalar ve iyileştirmeler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3611880"/>
          </a:xfrm>
          <a:prstGeom prst="roundRect">
            <a:avLst>
              <a:gd name="adj" fmla="val 2532"/>
            </a:avLst>
          </a:prstGeom>
          <a:solidFill>
            <a:srgbClr val="F1F3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Kurallar %100, ama herkes aynı öneriyi aldı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20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Gördük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1920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personanın 4'üne yalnızca SPK risk 1 nakit benzeri fon önerildi.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9192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63347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6334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Geçmiş getiri baskındı; risk bütçesini ölçen bir ölçüt yoktu.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392424"/>
            <a:ext cx="64008" cy="54864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334670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Düzeltme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3467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uyumu bandı, varlık sınıfı, sınıf başına en çok 1 ürün.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05656"/>
            <a:ext cx="64008" cy="5486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0599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Sonuç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40599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personada 5 farklı set; kurallar hâlâ %100.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394960" cy="3611880"/>
          </a:xfrm>
          <a:prstGeom prst="roundRect">
            <a:avLst>
              <a:gd name="adj" fmla="val 2532"/>
            </a:avLst>
          </a:prstGeom>
          <a:solidFill>
            <a:srgbClr val="F1F3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1325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kendisiyle çelişebiliyordu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46520" y="1965960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1920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Gördük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1920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"Muhafazakâr" ama büyüme önceliği; ev peşinatı ama likidite "Düşük".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46520" y="2679192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263347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Nasıl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26334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personaya bilerek çelişki yerleştirip canlı kontrol yaptık.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46520" y="3392424"/>
            <a:ext cx="64008" cy="54864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34670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Düzeltme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33467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sabit kural, alıntılı AI kontrolü, onaydan önce RM gerekçesi.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46520" y="4105656"/>
            <a:ext cx="64008" cy="5486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29400" y="40599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Sonuç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680960" y="40599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Sabit kurallar 0 / 5, AI 5 / 5; P01, P03, P05'te yanlış alarm yok.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9834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EF2F9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5029200"/>
            <a:ext cx="457200" cy="45720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138928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280160" y="49834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cProfile bir sorgunun her çağrıda ~30.000 satır taradığını gösterdi; varlığa göre dizin: müşteri başına motor 6,2 → 1,4 sn, sunucu açılışı 8,7 → 2,3 sn, ilk 3 aynı.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48640" y="565099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E6D5"/>
          </a:solidFill>
          <a:ln/>
        </p:spPr>
      </p:sp>
      <p:sp>
        <p:nvSpPr>
          <p:cNvPr id="36" name="Shape 33"/>
          <p:cNvSpPr/>
          <p:nvPr/>
        </p:nvSpPr>
        <p:spPr>
          <a:xfrm>
            <a:off x="685800" y="5705856"/>
            <a:ext cx="457200" cy="45720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815584"/>
            <a:ext cx="237744" cy="237744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280160" y="56509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Öğrenim: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"kurallar %100" yeterli değil. Çıktılar arası karşılaştırma ve canlı kontrol gerekir. Tüm liste: docs/found-and-fixed.md (22 kayıt).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desteği, yatırım tavsiyesi değil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2A335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Sınırlarımız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Hazırlık süresi kazancı ölçülmedi [VARSAYIM]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Ağırlıklar, risk ve dağılım bantları bizim seçimimiz [VARSAYIM]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hakemi yalnızca yön gösterir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Personalar sentetik; tam değerlendirme 14.10 dondurulmuş verisinde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2A3358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600200"/>
            <a:ext cx="548640" cy="54864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17318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adımlar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3774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 sistemlerinden gerçek portföy ve ürün rafı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işlem kaydından otomatik değerlendirme döngüsü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 için lisanslı veri; kimlik doğrulama, denetim deposu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sonrası takip adımı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karar verir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 0, aynı girdi aynı sonuç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kanıtlı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kaynak, tarih, alınma zamanı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1381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kontrolde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13816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karar noktası, 2 kilit, kanal yok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Teşekkürler. Jüri Challenge koşullarınızı bekliyoruz.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Ek: soru-cevap için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Jüri Challenge: koşul değişince ne olur?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· Mimari ve veri akışı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· 8 ölçüt, ağırlıklar ve cezalar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· P02 örneği: ilk 3 nasıl çıktı?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 · Bir önerinin kanıt kaydı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E6 · Modeller, maliyet ve yedekler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E7 · Ajan değerlendirmesi ve ikinci hakem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E8 · Diğer bulgular ve düzeltmeler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E9 · Neden kural ve şeffaf puan?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· Dağılım ve geri bildirim döngüsü</a:t>
            </a:r>
            <a:endParaRPr lang="en-US" sz="1700" dirty="0"/>
          </a:p>
        </p:txBody>
      </p:sp>
      <p:pic>
        <p:nvPicPr>
          <p:cNvPr id="4" name="Image 0" descr="C:\Users\yardang\dev\ing-hackathon\prototype\web\public\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377440"/>
            <a:ext cx="2743200" cy="16429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Jüri Challenge: koşul değişince ne olur?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Değişiklik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Sistemin davranışı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profili değişir (P03 Agresif → Muhafazakâr)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Tavan 2'ye iner; öneriler, dağılım ve metin yeniden; kartta "Düzenlenmiş profil ile hazırlandı"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 açık kısıt ("döviz istemiyor")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kural: ilgili ürünler elenir, gerekçe "Elenenler" listesinde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Tanınmayan kısıt veya risk profili metni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Sıralama durur, RM'e yanıt seçenekli soru açılır; tahmin yok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Kısıtı RM kaldırır (P02 döviz)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RM'in gerekçesiyle; varsayım ve kayıt olarak görünür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çelişkisi (yaş 62, notta "45 yaşında")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Sabit kural veya AI bulgusu; RM gerekçesi olmadan onay yok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Kaynak erişilemez veya bot 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Engel aşılmaz; önceki snapshot ve tarihi kullanılır, not düşülür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Eksik veya hatalı veri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Bayrak, düşük güven, "eksik veri" notu; aralık dışı değer kullanılmaz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 hata verir veya 90 sn'yi aşar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düzeltme hakkı, sonra motorun ilk 3'ü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Mevcut portföy dağılımı girilir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Portföy açığı ölçütü devreye girer; çalışmış ajan yeniden çalışır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· Mimari ve veri akışı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377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Kaynaklar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TCMB EVDS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TEFAS sayfaları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Borsa İstanbul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oran sayfası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girilen dosya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(kod)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91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Günlük 07:30 veya "Veriyi yenile" (kilit)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SHA-256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 bayrakları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deposu: DuckDB + Parquet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Puanlama motoru (kod)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691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 kuralları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Puan, güven, istikrar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İlk 3, dağılım, uyarılar, sorular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0" y="128016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E6D5"/>
          </a:solidFill>
          <a:ln w="12700">
            <a:solidFill>
              <a:srgbClr val="FF62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3533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+ web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691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yalnızca 127.0.0.1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uygulaması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inceler, onaylar, düzenler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7180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396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kontrolü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kural + Claude Opus 5.5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araştırması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Exa; yedek Claude web araması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5.5 + kod denetimi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1540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5256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Anlatıcı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5256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5.5 metin, Haiku 5.5 özet; doğrulayıcı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330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Kayıtlar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669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data/runs, narratives, agent, research, cards · logs/rm-actions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5330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Değerlendirme ve geri bildirim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5669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senaryo, ajan A/B, rmprep feedback (işlem kaydından)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· 8 ölçüt, ağırlıklar ve cezalar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Ölçüt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ölçer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Ham ağırlık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Getiri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stopaj, ücret ve TÜFE sonrası reel getirinin adaylar içindeki sırası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+ 2 × risk iştahı (ufuk ≥ 3 yıl: +1)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uyumu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değeri müşterinin bandında mı (bandın altındaki her seviye −0,5)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Likidite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satış valörü (aynı gün 1,0 … 10 günden uzun 0,2)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likidite ihtiyacı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türünün düzenli gelire uygunluğu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gelir ihtiyacı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Anapara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anaparanın korunması (mevduat 1; fonda risk arttıkça azalır)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anapara koruma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Sadelik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yapısının sadeliği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"sade ürün" önceliği varsa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 büyüklüğü ve yatırımcı sayısı (payda işlem hacmi)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Portföy açığı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bugünkü dağılımın model banttan uzaklığı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× kaynak katsayısı (RM girdiyse veya onayladıysa)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Cezalar en çok 0,3: anapara riski, geç erişim, döviz, bilinmeyen risk, reel kayıp, piyasa altı getiri · 0,2: eksik geçmiş · 0,1: küçük fon. Ceza = üst sınır × konunun müşteri için önemi × ürünün zayıflığı. Öncelikler eşleşen ölçüte +1 ekler; ağırlıklar toplamı 1. MiFID II ve SPK yerindeliğinde ağırlık yok: seçimimiz [VARSAYIM], istikrar testiyle ölçülür.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· P02 örneği: ağırlıklar müşteriden gelir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ağırlıkları (Dengeli, 1–3 yıl, likidite / gelir / anapara Orta)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Reel getiri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57400" y="1920240"/>
            <a:ext cx="2743200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9204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0,339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uyumu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57400" y="2450592"/>
            <a:ext cx="1642683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1523" y="240487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0,203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352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Likidite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57400" y="2980944"/>
            <a:ext cx="1642683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91523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0,203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6557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057400" y="3511296"/>
            <a:ext cx="825388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74228" y="34655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0,102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959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Anapara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4041648"/>
            <a:ext cx="825388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974228" y="39959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0,102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057400" y="4572000"/>
            <a:ext cx="412694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61534" y="4526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0,051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"Erişilebilir likidite" önceliği likiditeye +1 ekler; toplam 1'e normalleştirilir.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Seçenek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Sınıf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Reel 1 yıl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EIL · Astra Para Piyasası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+%7,7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NJR · Nurol Borçlanma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borçlanma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+%8,1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KDE · Kuveyt Türk Dengeli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+%9,5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e-Vadeli Mevduat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+%2,1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Turuncu (karşılaştırma)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−%8,3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943600" y="4160520"/>
            <a:ext cx="5669280" cy="1783080"/>
          </a:xfrm>
          <a:prstGeom prst="roundRect">
            <a:avLst>
              <a:gd name="adj" fmla="val 5128"/>
            </a:avLst>
          </a:prstGeom>
          <a:solidFill>
            <a:srgbClr val="F1F3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26480" y="429768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RPP (0,775) KDE'den yüksek puan aldı, ama nakit benzeri sınıfın tek yeri EIL'de.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"Döviz maruziyetini gerekçesiz artırmama" kısıtı 15 döviz ürününü eler; RM gerekçeyle kaldırabilir.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Turuncu Hesap sıralamaya girmez; karşılaştırma tabanıdır.</a:t>
            </a:r>
            <a:endParaRPr lang="en-US" sz="12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 · Bir önerinin kanıt kaydı (Teslimat 6)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44168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44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234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PPN için 10 kanıt satırı; her biri kaynak, değer tarihi ve alınma zamanıyla (18.10.2026, 13:27–13:41)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476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 ve puan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94767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kuraldan geçti; 7 puan parçası, toplam 0,740; motorun ilk 3'ü PPN, OSD, AIS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411480" cy="411480"/>
          </a:xfrm>
          <a:prstGeom prst="ellipse">
            <a:avLst/>
          </a:prstGeom>
          <a:solidFill>
            <a:srgbClr val="6941C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70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6609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66090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5.5, istem a3, 0,073 $; AIS yerine ZBJ, gerekçeler atıflı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83864"/>
            <a:ext cx="411480" cy="411480"/>
          </a:xfrm>
          <a:prstGeom prst="ellipse">
            <a:avLst/>
          </a:prstGeom>
          <a:solidFill>
            <a:srgbClr val="6941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838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3741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bulguları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37413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PPN için 4 bulgu (fon belgeleri); RM 1'ini onayladı, 1'ini reddetti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197096"/>
            <a:ext cx="411480" cy="411480"/>
          </a:xfrm>
          <a:prstGeom prst="ellipse">
            <a:avLst/>
          </a:prstGeom>
          <a:solidFill>
            <a:srgbClr val="FF62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197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873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onayı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408736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22:53:18; seçim PPN, OSD, ZBJ (ajanın 3'ü); profil çelişkisi yok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10328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910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8006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 ve kart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80060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istem n12, denetim bulgusu yok, 0,047 $; RM bir bloğu 22:54:03'te düzenledi; kart kaydedildi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0728" y="1252728"/>
            <a:ext cx="3529584" cy="2490270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28" name="Image 0" descr="C:\Users\yardang\dev\ing-hackathon\prototype\docs\img\readme\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280160"/>
            <a:ext cx="3474720" cy="243540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8138160" y="378871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penceresi: EIL 1 yıllık getiri %48,13, kanıt Edede971a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FE6D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Çalıştırma Rb5470b4f25 (P01), demo videosu çekilirken bir betikle onaylandı; gerçek kullanımda aynı adımları RM ekrandan yapar, kayıt yapısı aynıdır.</a:t>
            </a:r>
            <a:endParaRPr lang="en-US" sz="12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E6 · Modeller, maliyet ve yedekler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Bileşen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Güvence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Maliyet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 ilk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kod denetimi, 1 tekrar, sonra motorun ilk 3'ü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karar başına ~0,05–0,10 $; günde en çok 3 $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araştırması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 (yedek: Claude Haiku 5.5)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soru kontrolü: müşteri bilgisi dışarı gitmez; kaynaksız bulgu atılır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başına ~0,02 $; günde en çok 5 $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kontrolü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bulgu iki tarafı kelimesi kelimesine alıntılar; sunucu doğrular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başına ~0,015 $, sonuç kaydedilir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Görüşme metni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doğrulayıcı, 1 tekrar, sonra şablon metin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metin başına 0,034 $, ort. 24,9 sn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Pano özeti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doğrulayıcı; hata olursa düz cümle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~0,003 $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Değerlendirme hakemi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kodun ölçemediği şeyler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paket başına &lt; 0,01 $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İkinci A/B hakemi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3.8 Flash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ilk hakemin sorusunun birebir aynısı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ücretsiz katman (~0,002 $ / soru)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anahtar eksikse yalnızca ona bağlı parça kapanır; puanlama motoru her zaman çalışır. Piyasa notunu dil modeli değil kod yazar.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E7 · Ajan değerlendirmesi: ne ölçtük, ne öğrendik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675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Kurallara uyum: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kararın 8'i kod denetiminden geçti; hiçbirinde yedeğe düşülmedi.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Tutarlılık: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kayıtlı karar aynı istek için geri gelir. Asıl test: sistemi sıfırlayıp modeli yeniden çağırdık; 8 kararın 5'i aynı, 3'ünde yalnızca bir ürün değişti (24 önerinin 21'i korundu).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 A/B hakemi: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kimin seçtiğini bilmez; müşteri profilini ve iki ürün setinin olgularını görür: "Hangisi müşteriye daha uygun ve neden?". İlk tur: ajan 5, motor 0, eşit 1.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hatamız: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ajanın kazançlarının 3'ü P03'teydi ve motorun seçtiği IDY ile OKT ajanın aday listesinde yoktu. Aday listesi artık motorun ilk 3'üyle başlıyor; P03 yeniden: hakem motoru seçti.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İkinci hakem: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soruları Gemini 3.8 Flash'a da sorduk; yalnızca ilk hakemin gördüğü metinle birebir aynı sorular. Bu tekrar bir sayım hatamızı buldu: iki senaryo aynı soruyu sormuştu ve yanıtı iki kez saymıştık.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Farklı 5 soru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Eşit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2880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 hakem 5 sorunun 4'ünde aynı kazananı seçti; P05'te Haiku "eşit", Gemini ajan dedi.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E6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 sayısı az ve iki hakem de dil modeli; sonuç ajanın daha iyi olduğunu kanıtlamaz. RM önce motorun önerilerini görür, ajanı isterse çalıştırır ve iki listeyi yan yana karşılaştırır.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E8 · Diğer bulgular ve düzeltmeler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gördük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Neden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Düzeltme ve sonuç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KORDS 1 ayda −%96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Bültendeki önceki kapanış bölünmeye göre düzeltilmemişti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±%10 limitini aşan hareket = bölünme; 111 payda 116 düzeltme; KORDS −%27,8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yıllık pay geçmişi 15.02.2023'te kesiliyordu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Depremden sonra borsa kapalıydı; boş günler bozuk dosya sayıldı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Kapanışı 0 olan geçerli bülten = işlem olmayan gün; tam 5 yıl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oranları eskimişti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Elle kopyalanmıştı; 28 e-Vadeli oranı değişmişti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 sayfası adaptörü; %35,00 yerine güncel %34,50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 ve TÜFE yokken güven 1,00 kalıyordu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Eski bir bayrak açığı gizliyordu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Reel getiri hesaplanamazsa güven × 0,8; eksik veri 5/7 → 7/7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"Garanti Portföy" fon adı yasak ifade sayıldı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Tarama kurucu adını da okuyordu; ücretli yeniden ölçüm ikinci biçimi buldu ("Garanti GZP")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Kurucu adı ve fon kodu taramadan çıkarıldı; ölçüm 3/3; tek başına "garanti" hâlâ yakalanır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hakemi motoru tuhaf nedenlerle seçti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Motorun seçtikleri ajanın aday listesinde yoktu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Aday listesi motorun ilk 3'üyle başlar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Açık kalanlar: TEFAS bazı günlerde fon fiyatını ve büyüklüğünü 0 yayımlıyor (son snapshot'ta 45 fon); iki EVDS serisi henüz elle doğrulanmadı.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E9 · Neden kural ve şeffaf puan?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Ölçüt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Kural + şeffaf puan (seçilen)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 sıralama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LLM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 ihtiyacı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Etiket gerekmez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Geçmiş RM kararları gerekir; yok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Etiket gerekmez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Denetlenebilirlik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 puan parçası kanıta bağlı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Öznitelik önemi yaklaşık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Gerekçe doğrulanamaz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Kural 5 (uygunluk)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kural; ihlal mümkün değil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öğrenilmiş eğilim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İstemle; ihlal mümkün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Determinizm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Aynı girdi, aynı sonuç ve run_id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Eğitim sürümüne bağlı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Aynı istem, farklı çıktı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Değişiklik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Yapılandırma dosyası (decision.yaml)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Yeniden eğitim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Öngörülemez etki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modelini güçlü olduğu yerde kullanıyoruz: metin yazmak, araştırmayı özetlemek, adayları nitel karşılaştırmak. RM onayları biriktiğinde ağırlıklar bir modelle ayarlanabilir; geri bildirim raporu bugün bunun için ölçüleri toplar.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· Dağılım görünümü ve geri bildirim döngüsü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5495544" cy="4505598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allo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440680" cy="44507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74003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bant (Ata Yatırım, 28.04.2026), bugünkü dağılım, sınıfın en iyi seçeneği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355080" y="123444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F1F3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Dağılım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37360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profiline göre her varlık sınıfı için model bant; Temkinli bandı kaynakta yok, bizim çıkarımımız [VARSAYIM]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Dosyada dağılım yoksa meslek tablosundan veya TCMB FİR ortalamasından tahmin; "tahmini senaryo" etiketi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"Tahmini onayla" veya "Düzenle" demeden puanı etkilemez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3749040"/>
            <a:ext cx="5257800" cy="2468880"/>
          </a:xfrm>
          <a:prstGeom prst="roundRect">
            <a:avLst>
              <a:gd name="adj" fmla="val 3704"/>
            </a:avLst>
          </a:prstGeom>
          <a:solidFill>
            <a:srgbClr val="EEF2F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3840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 bildirim döngüsü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25196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RM işlemi sürüm bilgileriyle bir JSON satırı: onay, ret, düzenleme, silme, bulgu işareti, dağılım, ajan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rmprep feedback: 5 ölçü ve sabit eşiklerle öneriler (ör. sık silinen bölüm, ajan önerisinin kabul oranı)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Rapor ayar değiştirmez; otomatik döngü gelecek iş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4676</Words>
  <Application>Microsoft Office PowerPoint</Application>
  <PresentationFormat>Geniş ekran</PresentationFormat>
  <Paragraphs>530</Paragraphs>
  <Slides>23</Slides>
  <Notes>23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1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PowerPoint Sunusu</vt:lpstr>
      <vt:lpstr>RM'in hazırlığı: yüzlerce ürün, dağınık veri, kayıt yok</vt:lpstr>
      <vt:lpstr>Kararı kod hazırlar, dil modeli yazar, son söz RM'in</vt:lpstr>
      <vt:lpstr>Her sayı kaynağı, tarihi ve kanıt kimliğiyle</vt:lpstr>
      <vt:lpstr>Önce katı kurallar, sonra şeffaf puan</vt:lpstr>
      <vt:lpstr>Belirsizliği saklamıyoruz: tahmin yerine soru</vt:lpstr>
      <vt:lpstr>Ajan sınırlar içinde çalışır, her çıktısını kod denetler</vt:lpstr>
      <vt:lpstr>RM görmeden ve onaylamadan hiçbir şey ilerlemez</vt:lpstr>
      <vt:lpstr>Canlı demo: P02, veriden görüşme metnine</vt:lpstr>
      <vt:lpstr>Kesin kurallarda hedef %100: 34 senaryo, 0 ihlal</vt:lpstr>
      <vt:lpstr>Bulduğumuz hatalar ve iyileştirmeler</vt:lpstr>
      <vt:lpstr>Karar desteği, yatırım tavsiyesi değil</vt:lpstr>
      <vt:lpstr>Ek: soru-cevap için</vt:lpstr>
      <vt:lpstr>E1 · Jüri Challenge: koşul değişince ne olur?</vt:lpstr>
      <vt:lpstr>E2 · Mimari ve veri akışı</vt:lpstr>
      <vt:lpstr>E3 · 8 ölçüt, ağırlıklar ve cezalar</vt:lpstr>
      <vt:lpstr>E4 · P02 örneği: ağırlıklar müşteriden gelir</vt:lpstr>
      <vt:lpstr>E5 · Bir önerinin kanıt kaydı (Teslimat 6)</vt:lpstr>
      <vt:lpstr>E6 · Modeller, maliyet ve yedekler</vt:lpstr>
      <vt:lpstr>E7 · Ajan değerlendirmesi: ne ölçtük, ne öğrendik</vt:lpstr>
      <vt:lpstr>E8 · Diğer bulgular ve düzeltmeler</vt:lpstr>
      <vt:lpstr>E9 · Neden kural ve şeffaf puan?</vt:lpstr>
      <vt:lpstr>E10 · Dağılım görünümü ve geri bildirim döngüsü</vt:lpstr>
    </vt:vector>
  </TitlesOfParts>
  <Company>ING Agentic AI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007 · RM Görüşme Hazırlığı</dc:title>
  <dc:subject>PptxGenJS Presentation</dc:subject>
  <dc:creator>Agent 007 (Yusuf Ardahan Doğru, Öykü Irmak Hatipoğlu)</dc:creator>
  <cp:lastModifiedBy>Ardahan Doğru</cp:lastModifiedBy>
  <cp:revision>1</cp:revision>
  <dcterms:created xsi:type="dcterms:W3CDTF">2026-10-29T12:46:51Z</dcterms:created>
  <dcterms:modified xsi:type="dcterms:W3CDTF">2026-10-29T12:46:53Z</dcterms:modified>
</cp:coreProperties>
</file>